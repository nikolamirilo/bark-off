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30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30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 i="0">
                <a:solidFill>
                  <a:srgbClr val="FF8C42"/>
                </a:solidFill>
                <a:latin typeface="Trebuchet MS"/>
              </a:defRPr>
            </a:pPr>
            <a:r>
              <a:t>PAW 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 i="0">
                <a:solidFill>
                  <a:srgbClr val="FFFFFF"/>
                </a:solidFill>
                <a:latin typeface="Trebuchet MS"/>
              </a:defRPr>
            </a:pPr>
            <a:r>
              <a:t>Organic Marketing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1">
                <a:solidFill>
                  <a:srgbClr val="9494A8"/>
                </a:solidFill>
                <a:latin typeface="Calibri"/>
              </a:defRPr>
            </a:pPr>
            <a:r>
              <a:t>Detect barks. Calm your dog. Zero ad spend.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6309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9494A8"/>
                </a:solidFill>
                <a:latin typeface="Calibri"/>
              </a:defRPr>
            </a:pPr>
            <a:r>
              <a:t>Android Launch  |  Pre-Launch Phase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2D2D3A"/>
                </a:solidFill>
                <a:latin typeface="Trebuchet MS"/>
              </a:defRPr>
            </a:pPr>
            <a:r>
              <a:t>What is Paw Pal?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 i="0">
                <a:solidFill>
                  <a:srgbClr val="555566"/>
                </a:solidFill>
                <a:latin typeface="Calibri"/>
              </a:defRPr>
            </a:pPr>
            <a:r>
              <a:t>A smart companion for dog owners that listens for barks</a:t>
            </a:r>
            <a:br/>
            <a:r>
              <a:t>and plays calming sounds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3291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54864" cy="228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3774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2D2D3A"/>
                </a:solidFill>
                <a:latin typeface="Trebuchet MS"/>
              </a:defRPr>
            </a:pPr>
            <a:r>
              <a:t>Bark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974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66"/>
                </a:solidFill>
                <a:latin typeface="Calibri"/>
              </a:defRPr>
            </a:pPr>
            <a:r>
              <a:t>Uses your phone's mic to</a:t>
            </a:r>
          </a:p>
          <a:p>
            <a:pPr>
              <a:spcAft>
                <a:spcPts val="400"/>
              </a:spcAft>
              <a:defRPr sz="1100">
                <a:solidFill>
                  <a:srgbClr val="555566"/>
                </a:solidFill>
                <a:latin typeface="Calibri"/>
              </a:defRPr>
            </a:pPr>
            <a:r>
              <a:t>detect barking in real-time,</a:t>
            </a:r>
          </a:p>
          <a:p>
            <a:pPr>
              <a:spcAft>
                <a:spcPts val="400"/>
              </a:spcAft>
              <a:defRPr sz="1100">
                <a:solidFill>
                  <a:srgbClr val="555566"/>
                </a:solidFill>
                <a:latin typeface="Calibri"/>
              </a:defRPr>
            </a:pPr>
            <a:r>
              <a:t>even in the background.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194560"/>
            <a:ext cx="3291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194560"/>
            <a:ext cx="54864" cy="228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3774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2D2D3A"/>
                </a:solidFill>
                <a:latin typeface="Trebuchet MS"/>
              </a:defRPr>
            </a:pPr>
            <a:r>
              <a:t>Calming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6974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66"/>
                </a:solidFill>
                <a:latin typeface="Calibri"/>
              </a:defRPr>
            </a:pPr>
            <a:r>
              <a:t>Automatically plays soothing</a:t>
            </a:r>
          </a:p>
          <a:p>
            <a:pPr>
              <a:spcAft>
                <a:spcPts val="400"/>
              </a:spcAft>
              <a:defRPr sz="1100">
                <a:solidFill>
                  <a:srgbClr val="555566"/>
                </a:solidFill>
                <a:latin typeface="Calibri"/>
              </a:defRPr>
            </a:pPr>
            <a:r>
              <a:t>sounds from a curated library</a:t>
            </a:r>
          </a:p>
          <a:p>
            <a:pPr>
              <a:spcAft>
                <a:spcPts val="400"/>
              </a:spcAft>
              <a:defRPr sz="1100">
                <a:solidFill>
                  <a:srgbClr val="555566"/>
                </a:solidFill>
                <a:latin typeface="Calibri"/>
              </a:defRPr>
            </a:pPr>
            <a:r>
              <a:t>when barking is detected.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94560"/>
            <a:ext cx="3291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94560"/>
            <a:ext cx="54864" cy="228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237744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331720"/>
            <a:ext cx="2331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2D2D3A"/>
                </a:solidFill>
                <a:latin typeface="Trebuchet MS"/>
              </a:defRPr>
            </a:pPr>
            <a:r>
              <a:t>Smart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69748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55566"/>
                </a:solidFill>
                <a:latin typeface="Calibri"/>
              </a:defRPr>
            </a:pPr>
            <a:r>
              <a:t>Track barking patterns with</a:t>
            </a:r>
          </a:p>
          <a:p>
            <a:pPr>
              <a:spcAft>
                <a:spcPts val="400"/>
              </a:spcAft>
              <a:defRPr sz="1100">
                <a:solidFill>
                  <a:srgbClr val="555566"/>
                </a:solidFill>
                <a:latin typeface="Calibri"/>
              </a:defRPr>
            </a:pPr>
            <a:r>
              <a:t>detailed analytics and charts</a:t>
            </a:r>
          </a:p>
          <a:p>
            <a:pPr>
              <a:spcAft>
                <a:spcPts val="400"/>
              </a:spcAft>
              <a:defRPr sz="1100">
                <a:solidFill>
                  <a:srgbClr val="555566"/>
                </a:solidFill>
                <a:latin typeface="Calibri"/>
              </a:defRPr>
            </a:pPr>
            <a:r>
              <a:t>to understand your pet better.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292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FF8C42"/>
                </a:solidFill>
                <a:latin typeface="Trebuchet MS"/>
              </a:defRPr>
            </a:pPr>
            <a:r>
              <a:t>24/7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7784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9494A8"/>
                </a:solidFill>
                <a:latin typeface="Calibri"/>
              </a:defRPr>
            </a:pPr>
            <a:r>
              <a:t>Background</a:t>
            </a:r>
            <a:br/>
            <a:r>
              <a:t>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292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FF8C42"/>
                </a:solidFill>
                <a:latin typeface="Trebuchet MS"/>
              </a:defRPr>
            </a:pPr>
            <a: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57784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9494A8"/>
                </a:solidFill>
                <a:latin typeface="Calibri"/>
              </a:defRPr>
            </a:pPr>
            <a:r>
              <a:t>Free &amp;</a:t>
            </a:r>
            <a:br/>
            <a:r>
              <a:t>Organic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029200"/>
            <a:ext cx="2286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FF8C42"/>
                </a:solidFill>
                <a:latin typeface="Trebuchet MS"/>
              </a:defRPr>
            </a:pPr>
            <a:r>
              <a:t>Android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57784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9494A8"/>
                </a:solidFill>
                <a:latin typeface="Calibri"/>
              </a:defRPr>
            </a:pPr>
            <a:r>
              <a:t>Google Play</a:t>
            </a:r>
            <a:br/>
            <a:r>
              <a:t>Launch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2D2D3A"/>
                </a:solidFill>
                <a:latin typeface="Trebuchet MS"/>
              </a:defRPr>
            </a:pPr>
            <a:r>
              <a:t>Target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120640" cy="4846320"/>
          </a:xfrm>
          <a:prstGeom prst="rect">
            <a:avLst/>
          </a:prstGeom>
          <a:solidFill>
            <a:srgbClr val="F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12064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2D2D3A"/>
                </a:solidFill>
                <a:latin typeface="Trebuchet MS"/>
              </a:defRPr>
            </a:pPr>
            <a:r>
              <a:t>Separation Anxiety Owners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Leave dogs home alone for work or errands</a:t>
            </a:r>
          </a:p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Worry about neighbors and noise complaints</a:t>
            </a:r>
          </a:p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Feel guilty about leaving their pet</a:t>
            </a:r>
          </a:p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Want reassurance their dog is calm</a:t>
            </a:r>
          </a:p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Active on Reddit r/dogs, r/dogtraining</a:t>
            </a:r>
          </a:p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Search for "how to calm dog when alone"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120640" cy="4846320"/>
          </a:xfrm>
          <a:prstGeom prst="rect">
            <a:avLst/>
          </a:prstGeom>
          <a:solidFill>
            <a:srgbClr val="F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12064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2D2D3A"/>
                </a:solidFill>
                <a:latin typeface="Trebuchet MS"/>
              </a:defRPr>
            </a:pPr>
            <a:r>
              <a:t>New &amp; First-Time Dog Owners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Just adopted or bought their first dog</a:t>
            </a:r>
          </a:p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Overwhelmed by new pet behavior</a:t>
            </a:r>
          </a:p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Actively seeking tips and tools online</a:t>
            </a:r>
          </a:p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Willing to try any solution that helps</a:t>
            </a:r>
          </a:p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Present in Facebook groups, TikTok, YouTube</a:t>
            </a:r>
          </a:p>
          <a:p>
            <a:pPr>
              <a:spcBef>
                <a:spcPts val="1000"/>
              </a:spcBef>
              <a:defRPr sz="1300">
                <a:solidFill>
                  <a:srgbClr val="555566"/>
                </a:solidFill>
                <a:latin typeface="Calibri"/>
              </a:defRPr>
              <a:buChar char="•"/>
            </a:pPr>
            <a:r>
              <a:t>Search for "new puppy barking at night"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 i="0">
                <a:solidFill>
                  <a:srgbClr val="FFFFFF"/>
                </a:solidFill>
                <a:latin typeface="Trebuchet MS"/>
              </a:defRPr>
            </a:pPr>
            <a:r>
              <a:t>8-Week Pre-Launch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651760" cy="475488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65176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8C42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Trebuchet MS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Set up social profiles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Create brand voice guide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Build landing page with waitlist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Start Reddit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651760" cy="475488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65176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544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2ECCB1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Trebuchet MS"/>
              </a:defRPr>
            </a:pPr>
            <a:r>
              <a:t>Content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Launch TikTok/Reels content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Write SEO blog posts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Engage in dog owner forums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Start email nurture sequence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51760" cy="475488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9B87F5"/>
                </a:solidFill>
                <a:latin typeface="Calibri"/>
              </a:defRPr>
            </a:pPr>
            <a:r>
              <a:t>Week 5-6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Trebuchet MS"/>
              </a:defRPr>
            </a:pPr>
            <a:r>
              <a:t>Community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Host Instagram Q&amp;As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Partner with micro-influencers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Share beta tester stories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Create shareable dog content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651760" cy="475488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6517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5544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6B6B"/>
                </a:solidFill>
                <a:latin typeface="Calibri"/>
              </a:defRPr>
            </a:pPr>
            <a:r>
              <a:t>Week 7-8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8745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Trebuchet MS"/>
              </a:defRPr>
            </a:pPr>
            <a:r>
              <a:t>Launch Prep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6888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Finalize Play Store listing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Send launch countdown emails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Prepare launch day posts</a:t>
            </a:r>
          </a:p>
          <a:p>
            <a:pPr>
              <a:spcBef>
                <a:spcPts val="1200"/>
              </a:spcBef>
              <a:defRPr sz="1200">
                <a:solidFill>
                  <a:srgbClr val="9494A8"/>
                </a:solidFill>
                <a:latin typeface="Calibri"/>
              </a:defRPr>
              <a:buChar char="•"/>
            </a:pPr>
            <a:r>
              <a:t>Line up day-one 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2D2D3A"/>
                </a:solidFill>
                <a:latin typeface="Trebuchet MS"/>
              </a:defRPr>
            </a:pPr>
            <a:r>
              <a:t>Social Media Content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1">
                <a:solidFill>
                  <a:srgbClr val="9494A8"/>
                </a:solidFill>
                <a:latin typeface="Calibri"/>
              </a:defRPr>
            </a:pPr>
            <a:r>
              <a:t>Focus on platforms where dog owners spend time — short-form video and community forums.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66160" cy="59436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TikTok / Instagram Reels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786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D2D3A"/>
                </a:solidFill>
                <a:latin typeface="Trebuchet MS"/>
              </a:defRPr>
            </a:pPr>
            <a:r>
              <a:t>Before &amp; After Videos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4436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Show dog barking vs. calming down with Paw Pal running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502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D2D3A"/>
                </a:solidFill>
                <a:latin typeface="Trebuchet MS"/>
              </a:defRPr>
            </a:pPr>
            <a:r>
              <a:t>Day-in-the-Life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1596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"Leaving my dog alone for the first time with Paw Pal"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12080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218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D2D3A"/>
                </a:solidFill>
                <a:latin typeface="Trebuchet MS"/>
              </a:defRPr>
            </a:pPr>
            <a:r>
              <a:t>Dog Reaction Clips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8756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Film real dogs responding to calming sounds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645920"/>
            <a:ext cx="3566160" cy="59436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Reddit &amp; Forums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468880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5786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D2D3A"/>
                </a:solidFill>
                <a:latin typeface="Trebuchet MS"/>
              </a:defRPr>
            </a:pPr>
            <a:r>
              <a:t>Value-First Posting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4436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Answer questions in r/dogs, r/dogtraining with real advice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3840480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9502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D2D3A"/>
                </a:solidFill>
                <a:latin typeface="Trebuchet MS"/>
              </a:defRPr>
            </a:pPr>
            <a:r>
              <a:t>AMA / Story Posts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31596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Share the journey of building Paw Pal and why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212080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53218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D2D3A"/>
                </a:solidFill>
                <a:latin typeface="Trebuchet MS"/>
              </a:defRPr>
            </a:pPr>
            <a:r>
              <a:t>Beta Invite Threads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68756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Offer early access in relevant subreddits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645920"/>
            <a:ext cx="3566160" cy="594360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Facebook Groups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468880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5786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D2D3A"/>
                </a:solidFill>
                <a:latin typeface="Trebuchet MS"/>
              </a:defRPr>
            </a:pPr>
            <a:r>
              <a:t>Join Niche Groups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94436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Dog breed groups, puppy owners, apartment dog owners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840480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9502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D2D3A"/>
                </a:solidFill>
                <a:latin typeface="Trebuchet MS"/>
              </a:defRPr>
            </a:pPr>
            <a:r>
              <a:t>Share Helpful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31596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Post tips about calming dogs, not just promos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5212080"/>
            <a:ext cx="3566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532180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D2D3A"/>
                </a:solidFill>
                <a:latin typeface="Trebuchet MS"/>
              </a:defRPr>
            </a:pPr>
            <a:r>
              <a:t>Build Your Own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687568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"Calm Paws Community" for pet anxiety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2D2D3A"/>
                </a:solidFill>
                <a:latin typeface="Trebuchet MS"/>
              </a:defRPr>
            </a:pPr>
            <a:r>
              <a:t>Content &amp; SEO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solidFill>
            <a:srgbClr val="F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2D2D3A"/>
                </a:solidFill>
                <a:latin typeface="Trebuchet MS"/>
              </a:defRPr>
            </a:pPr>
            <a:r>
              <a:t>Blog Topics to Rank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8C42"/>
                </a:solidFill>
                <a:latin typeface="Calibri"/>
              </a:defRPr>
            </a:pPr>
            <a:r>
              <a:t>"How to stop dog barking when home alone"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High intent, directly leads to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8C42"/>
                </a:solidFill>
                <a:latin typeface="Calibri"/>
              </a:defRPr>
            </a:pPr>
            <a:r>
              <a:t>"Best calming sounds for dogs"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Music-focused, natural fit for Paw 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8C42"/>
                </a:solidFill>
                <a:latin typeface="Calibri"/>
              </a:defRPr>
            </a:pPr>
            <a:r>
              <a:t>"Dog separation anxiety: complete guide"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Authority piece, long-form SEO magnet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8C42"/>
                </a:solidFill>
                <a:latin typeface="Calibri"/>
              </a:defRPr>
            </a:pPr>
            <a:r>
              <a:t>"Why does my puppy bark at night?"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New owner query, top of 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949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8C42"/>
                </a:solidFill>
                <a:latin typeface="Calibri"/>
              </a:defRPr>
            </a:pPr>
            <a:r>
              <a:t>"Apartment dog noise solutions"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7150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Niche pain point with high urgency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280160"/>
            <a:ext cx="5120640" cy="5029200"/>
          </a:xfrm>
          <a:prstGeom prst="rect">
            <a:avLst/>
          </a:prstGeom>
          <a:solidFill>
            <a:srgbClr val="F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2D2D3A"/>
                </a:solidFill>
                <a:latin typeface="Trebuchet MS"/>
              </a:defRPr>
            </a:pPr>
            <a:r>
              <a:t>App Store Optimization (ASO)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03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ECCB1"/>
                </a:solidFill>
                <a:latin typeface="Calibri"/>
              </a:defRPr>
            </a:pPr>
            <a:r>
              <a:t>App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4231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"Paw Pal: Dog Bark Detector &amp; Calming Sounds"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9260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ECCB1"/>
                </a:solidFill>
                <a:latin typeface="Calibri"/>
              </a:defRPr>
            </a:pPr>
            <a:r>
              <a:t>Keywords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2461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dog bark, calming, separation anxiety, pet sounds, puppy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490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ECCB1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069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Lead with the problem, show the solution, social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5720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ECCB1"/>
                </a:solidFill>
                <a:latin typeface="Calibri"/>
              </a:defRPr>
            </a:pPr>
            <a:r>
              <a:t>Screenshots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8920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Show the app in action with real-use scenarios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53949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ECCB1"/>
                </a:solidFill>
                <a:latin typeface="Calibri"/>
              </a:defRPr>
            </a:pPr>
            <a:r>
              <a:t>Rating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57150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Prompt happy users after successful calming sessions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FFFFFF"/>
                </a:solidFill>
                <a:latin typeface="Trebuchet MS"/>
              </a:defRPr>
            </a:pPr>
            <a:r>
              <a:t>Organic Influencer &amp;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1">
                <a:solidFill>
                  <a:srgbClr val="9494A8"/>
                </a:solidFill>
                <a:latin typeface="Calibri"/>
              </a:defRPr>
            </a:pPr>
            <a:r>
              <a:t>No budget needed — focus on value exchange and genuine relationships.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94960" cy="228600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39496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8C42"/>
                </a:solidFill>
                <a:latin typeface="Trebuchet MS"/>
              </a:defRPr>
            </a:pPr>
            <a:r>
              <a:t>Micro-Influencers (1K-10K followers)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Target dog-mom/dad TikTokers and Instagrammers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Offer free early access in exchange for honest review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Look for creators who post about dog behavior or training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Prioritize engagement rate over follower 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94960" cy="228600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9496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2ECCB1"/>
                </a:solidFill>
                <a:latin typeface="Trebuchet MS"/>
              </a:defRPr>
            </a:pPr>
            <a:r>
              <a:t>Dog Trainers &amp; Behaviorists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Reach out to local and online dog trainers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Offer the app as a complementary tool to their services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Ask them to recommend Paw Pal to anxious-dog clients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Create co-branded content: "Trainer-approved tips"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06240"/>
            <a:ext cx="5394960" cy="228600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5394960" cy="54864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9B87F5"/>
                </a:solidFill>
                <a:latin typeface="Trebuchet MS"/>
              </a:defRPr>
            </a:pPr>
            <a:r>
              <a:t>Pet Bloggers &amp; YouTubers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Pitch a "day with my anxious dog" collaboration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Provide a story angle, not just a product review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Offer exclusive early features for their audience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Guest post on their blogs with backlinks to your site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206240"/>
            <a:ext cx="5394960" cy="228600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3949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434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6B6B"/>
                </a:solidFill>
                <a:latin typeface="Trebuchet MS"/>
              </a:defRPr>
            </a:pPr>
            <a:r>
              <a:t>Veterinary Clinics &amp; Pet Stores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Partner with local vets to display QR code flyers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Offer a "recommended by vets" pathway via testimonials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Leave pamphlets at dog-friendly cafes and parks</a:t>
            </a:r>
          </a:p>
          <a:p>
            <a:pPr>
              <a:spcBef>
                <a:spcPts val="600"/>
              </a:spcBef>
              <a:defRPr sz="1100">
                <a:solidFill>
                  <a:srgbClr val="9494A8"/>
                </a:solidFill>
                <a:latin typeface="Calibri"/>
              </a:defRPr>
              <a:buChar char="•"/>
            </a:pPr>
            <a:r>
              <a:t>Create printable resources they can share with clients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2D2D3A"/>
                </a:solidFill>
                <a:latin typeface="Trebuchet MS"/>
              </a:defRPr>
            </a:pPr>
            <a:r>
              <a:t>Launch Week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12848"/>
            <a:ext cx="10332720" cy="36576"/>
          </a:xfrm>
          <a:prstGeom prst="rect">
            <a:avLst/>
          </a:prstGeom>
          <a:solidFill>
            <a:srgbClr val="949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201168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D-3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21031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2D2D3A"/>
                </a:solidFill>
                <a:latin typeface="Trebuchet MS"/>
              </a:defRPr>
            </a:pPr>
            <a:r>
              <a:t>Teaser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37560"/>
            <a:ext cx="1828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555566"/>
                </a:solidFill>
                <a:latin typeface="Calibri"/>
              </a:defRPr>
            </a:pPr>
            <a:r>
              <a:t>Post "something big is coming" across all channels. Send countdown email to waitlist.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011680"/>
            <a:ext cx="457200" cy="457200"/>
          </a:xfrm>
          <a:prstGeom prst="ellipse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D-1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74320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743200"/>
            <a:ext cx="210312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926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2D2D3A"/>
                </a:solidFill>
                <a:latin typeface="Trebuchet MS"/>
              </a:defRPr>
            </a:pPr>
            <a:r>
              <a:t>Hype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337560"/>
            <a:ext cx="1828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555566"/>
                </a:solidFill>
                <a:latin typeface="Calibri"/>
              </a:defRPr>
            </a:pPr>
            <a:r>
              <a:t>Share behind-the-scenes story. Activate influencer partners to hint at launch.</a:t>
            </a:r>
          </a:p>
        </p:txBody>
      </p:sp>
      <p:sp>
        <p:nvSpPr>
          <p:cNvPr id="15" name="Oval 14"/>
          <p:cNvSpPr/>
          <p:nvPr/>
        </p:nvSpPr>
        <p:spPr>
          <a:xfrm>
            <a:off x="5897880" y="201168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Launch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74320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2743200"/>
            <a:ext cx="21031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926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2D2D3A"/>
                </a:solidFill>
                <a:latin typeface="Trebuchet MS"/>
              </a:defRPr>
            </a:pPr>
            <a:r>
              <a:t>Go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337560"/>
            <a:ext cx="1828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555566"/>
                </a:solidFill>
                <a:latin typeface="Calibri"/>
              </a:defRPr>
            </a:pPr>
            <a:r>
              <a:t>Publish on Google Play. Blast email list. Post launch video on all social platforms.</a:t>
            </a:r>
          </a:p>
        </p:txBody>
      </p:sp>
      <p:sp>
        <p:nvSpPr>
          <p:cNvPr id="20" name="Oval 19"/>
          <p:cNvSpPr/>
          <p:nvPr/>
        </p:nvSpPr>
        <p:spPr>
          <a:xfrm>
            <a:off x="8183880" y="2011680"/>
            <a:ext cx="457200" cy="457200"/>
          </a:xfrm>
          <a:prstGeom prst="ellipse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D+1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74320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2743200"/>
            <a:ext cx="2103120" cy="54864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2926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2D2D3A"/>
                </a:solidFill>
                <a:latin typeface="Trebuchet MS"/>
              </a:defRPr>
            </a:pPr>
            <a:r>
              <a:t>Social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337560"/>
            <a:ext cx="1828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555566"/>
                </a:solidFill>
                <a:latin typeface="Calibri"/>
              </a:defRPr>
            </a:pPr>
            <a:r>
              <a:t>Share first user reactions. Repost any UGC. Respond to every comment and review.</a:t>
            </a:r>
          </a:p>
        </p:txBody>
      </p:sp>
      <p:sp>
        <p:nvSpPr>
          <p:cNvPr id="25" name="Oval 24"/>
          <p:cNvSpPr/>
          <p:nvPr/>
        </p:nvSpPr>
        <p:spPr>
          <a:xfrm>
            <a:off x="10469880" y="201168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D+3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74320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2743200"/>
            <a:ext cx="210312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2926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2D2D3A"/>
                </a:solidFill>
                <a:latin typeface="Trebuchet MS"/>
              </a:defRPr>
            </a:pPr>
            <a:r>
              <a:t>Sustain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337560"/>
            <a:ext cx="1828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555566"/>
                </a:solidFill>
                <a:latin typeface="Calibri"/>
              </a:defRPr>
            </a:pPr>
            <a:r>
              <a:t>Publish recap blog post. Share download milestones. Thank the community publicly.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2D2D3A"/>
                </a:solidFill>
                <a:latin typeface="Trebuchet MS"/>
              </a:defRPr>
            </a:pPr>
            <a:r>
              <a:t>Post-Launch Growth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1">
                <a:solidFill>
                  <a:srgbClr val="9494A8"/>
                </a:solidFill>
                <a:latin typeface="Calibri"/>
              </a:defRPr>
            </a:pPr>
            <a:r>
              <a:t>Sustainable organic growth through product-led loops and community advocacy.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94960" cy="2103120"/>
          </a:xfrm>
          <a:prstGeom prst="rect">
            <a:avLst/>
          </a:prstGeom>
          <a:solidFill>
            <a:srgbClr val="F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4864" cy="21031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2D2D3A"/>
                </a:solidFill>
                <a:latin typeface="Trebuchet MS"/>
              </a:defRPr>
            </a:pPr>
            <a:r>
              <a:t>Referral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Add "Share with a fellow dog parent" after a calming session</a:t>
            </a:r>
          </a:p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Create shareable bark report cards for social media</a:t>
            </a:r>
          </a:p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"Your dog was calm for 4 hours today!" share 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94960" cy="2103120"/>
          </a:xfrm>
          <a:prstGeom prst="rect">
            <a:avLst/>
          </a:prstGeom>
          <a:solidFill>
            <a:srgbClr val="F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4864" cy="2103120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0" y="1828800"/>
            <a:ext cx="411480" cy="411480"/>
          </a:xfrm>
          <a:prstGeom prst="ellipse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2880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2D2D3A"/>
                </a:solidFill>
                <a:latin typeface="Trebuchet MS"/>
              </a:defRPr>
            </a:pPr>
            <a:r>
              <a:t>Content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User-generated before/after videos go viral on TikTok</a:t>
            </a:r>
          </a:p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Weekly "Calmest Dog" community spotlight on social</a:t>
            </a:r>
          </a:p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User testimonials become blog and social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5394960" cy="2103120"/>
          </a:xfrm>
          <a:prstGeom prst="rect">
            <a:avLst/>
          </a:prstGeom>
          <a:solidFill>
            <a:srgbClr val="F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54864" cy="2103120"/>
          </a:xfrm>
          <a:prstGeom prst="rect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9B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20624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2D2D3A"/>
                </a:solidFill>
                <a:latin typeface="Trebuchet MS"/>
              </a:defRPr>
            </a:pPr>
            <a:r>
              <a:t>Review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Prompt for Play Store review after 3rd successful session</a:t>
            </a:r>
          </a:p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Respond to every review (positive and negative)</a:t>
            </a:r>
          </a:p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Feature positive reviews in social media content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023360"/>
            <a:ext cx="5394960" cy="2103120"/>
          </a:xfrm>
          <a:prstGeom prst="rect">
            <a:avLst/>
          </a:prstGeom>
          <a:solidFill>
            <a:srgbClr val="F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023360"/>
            <a:ext cx="54864" cy="21031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0" y="4206240"/>
            <a:ext cx="411480" cy="4114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206240"/>
            <a:ext cx="4480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2D2D3A"/>
                </a:solidFill>
                <a:latin typeface="Trebuchet MS"/>
              </a:defRPr>
            </a:pPr>
            <a:r>
              <a:t>SEO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548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Each blog post drives organic search traffic to the app</a:t>
            </a:r>
          </a:p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FAQ section targets long-tail dog behavior queries</a:t>
            </a:r>
          </a:p>
          <a:p>
            <a:pPr>
              <a:spcBef>
                <a:spcPts val="600"/>
              </a:spcBef>
              <a:defRPr sz="1100">
                <a:solidFill>
                  <a:srgbClr val="555566"/>
                </a:solidFill>
                <a:latin typeface="Calibri"/>
              </a:defRPr>
              <a:buChar char="•"/>
            </a:pPr>
            <a:r>
              <a:t>Community forum content indexes and ranks over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FFFFFF"/>
                </a:solidFill>
                <a:latin typeface="Trebuchet MS"/>
              </a:defRPr>
            </a:pPr>
            <a:r>
              <a:t>KPIs &amp;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1">
                <a:solidFill>
                  <a:srgbClr val="9494A8"/>
                </a:solidFill>
                <a:latin typeface="Calibri"/>
              </a:defRPr>
            </a:pPr>
            <a:r>
              <a:t>Track these metrics weekly to gauge organic traction and adjust strategy.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66160" cy="219456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8C42"/>
                </a:solidFill>
                <a:latin typeface="Trebuchet MS"/>
              </a:defRPr>
            </a:pPr>
            <a:r>
              <a:t>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FFFF"/>
                </a:solidFill>
                <a:latin typeface="Trebuchet MS"/>
              </a:defRPr>
            </a:pPr>
            <a:r>
              <a:t>Waitlist Signups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Before launch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37360"/>
            <a:ext cx="3566160" cy="219456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2ECCB1"/>
                </a:solidFill>
                <a:latin typeface="Trebuchet MS"/>
              </a:defRPr>
            </a:pPr>
            <a:r>
              <a:t>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43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FFFF"/>
                </a:solidFill>
                <a:latin typeface="Trebuchet MS"/>
              </a:defRPr>
            </a:pPr>
            <a:r>
              <a:t>Downloads (Month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004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Organic installs from Play Store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737360"/>
            <a:ext cx="3566160" cy="219456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9B87F5"/>
                </a:solidFill>
                <a:latin typeface="Trebuchet MS"/>
              </a:defRPr>
            </a:pPr>
            <a:r>
              <a:t>4.5+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743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FFFF"/>
                </a:solidFill>
                <a:latin typeface="Trebuchet MS"/>
              </a:defRPr>
            </a:pPr>
            <a:r>
              <a:t>Play Store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Maintain via review prompts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3566160" cy="219456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8C42"/>
                </a:solidFill>
                <a:latin typeface="Trebuchet MS"/>
              </a:defRPr>
            </a:pPr>
            <a:r>
              <a:t>10K+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FFFF"/>
                </a:solidFill>
                <a:latin typeface="Trebuchet MS"/>
              </a:defRPr>
            </a:pPr>
            <a:r>
              <a:t>Social Media 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Combined TikTok/IG/Reddit weekly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4206240"/>
            <a:ext cx="3566160" cy="219456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48056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FF6B6B"/>
                </a:solidFill>
                <a:latin typeface="Trebuchet MS"/>
              </a:defRPr>
            </a:pPr>
            <a:r>
              <a:t>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521208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FFFF"/>
                </a:solidFill>
                <a:latin typeface="Trebuchet MS"/>
              </a:defRPr>
            </a:pPr>
            <a:r>
              <a:t>Week-1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66928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Users returning after 7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206240"/>
            <a:ext cx="3566160" cy="2194560"/>
          </a:xfrm>
          <a:prstGeom prst="rect">
            <a:avLst/>
          </a:prstGeom>
          <a:solidFill>
            <a:srgbClr val="28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480560"/>
            <a:ext cx="30175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 i="0">
                <a:solidFill>
                  <a:srgbClr val="2ECCB1"/>
                </a:solidFill>
                <a:latin typeface="Trebuchet MS"/>
              </a:defRPr>
            </a:pPr>
            <a: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21208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FFFF"/>
                </a:solidFill>
                <a:latin typeface="Trebuchet MS"/>
              </a:defRPr>
            </a:pPr>
            <a:r>
              <a:t>Referral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66928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94A8"/>
                </a:solidFill>
                <a:latin typeface="Calibri"/>
              </a:defRPr>
            </a:pPr>
            <a:r>
              <a:t>Users sharing with another dog owner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302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FFFFFF"/>
                </a:solidFill>
                <a:latin typeface="Trebuchet MS"/>
              </a:defRPr>
            </a:pPr>
            <a:r>
              <a:t>Let's Launch Paw 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1">
                <a:solidFill>
                  <a:srgbClr val="FF8C42"/>
                </a:solidFill>
                <a:latin typeface="Calibri"/>
              </a:defRPr>
            </a:pPr>
            <a:r>
              <a:t>Zero ad spend. Maximum impact. Every bark, calmed.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8404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defRPr sz="1400">
                <a:solidFill>
                  <a:srgbClr val="9494A8"/>
                </a:solidFill>
                <a:latin typeface="Calibri"/>
              </a:defRPr>
            </a:pPr>
            <a:r>
              <a:t>8-week pre-launch roadmap with weekly milestones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494A8"/>
                </a:solidFill>
                <a:latin typeface="Calibri"/>
              </a:defRPr>
            </a:pPr>
            <a:r>
              <a:t>Social-first strategy across TikTok, Reddit &amp; Facebook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494A8"/>
                </a:solidFill>
                <a:latin typeface="Calibri"/>
              </a:defRPr>
            </a:pPr>
            <a:r>
              <a:t>Organic influencer partnerships with micro-creators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494A8"/>
                </a:solidFill>
                <a:latin typeface="Calibri"/>
              </a:defRPr>
            </a:pPr>
            <a:r>
              <a:t>Product-led growth loops baked into the app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63093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9494A8"/>
                </a:solidFill>
                <a:latin typeface="Calibri"/>
              </a:defRPr>
            </a:pPr>
            <a:r>
              <a:t>Paw Pal  |  Reactify Solutions  |  reactify.developer@gmail.com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